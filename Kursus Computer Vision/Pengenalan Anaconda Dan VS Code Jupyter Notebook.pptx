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91" r:id="rId4"/>
    <p:sldId id="267" r:id="rId5"/>
    <p:sldId id="271" r:id="rId7"/>
    <p:sldId id="270" r:id="rId8"/>
    <p:sldId id="274" r:id="rId9"/>
    <p:sldId id="275" r:id="rId10"/>
    <p:sldId id="276" r:id="rId11"/>
    <p:sldId id="278" r:id="rId12"/>
    <p:sldId id="283" r:id="rId13"/>
    <p:sldId id="285" r:id="rId14"/>
    <p:sldId id="284" r:id="rId15"/>
    <p:sldId id="289" r:id="rId16"/>
    <p:sldId id="287" r:id="rId17"/>
    <p:sldId id="29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8D08"/>
    <a:srgbClr val="E5E793"/>
    <a:srgbClr val="3CAF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https://www.anaconda.com/</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https://anaconda.org/conda-forge</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https://www.anaconda.com/products/individual</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https://anaconda.org/conda-forge</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https://anaconda.org/conda-forge</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https://anaconda.org/conda-forge</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https://anaconda.org/conda-forge</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https://anaconda.org/conda-forge</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https://anaconda.org/conda-forge</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https://anaconda.org/conda-forge</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https://anaconda.org/conda-forge</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https://anaconda.org/conda-forge</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https://anaconda.org/conda-forge</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4.xml"/><Relationship Id="rId2" Type="http://schemas.openxmlformats.org/officeDocument/2006/relationships/hyperlink" Target="https://www.anaconda.com/&#13;" TargetMode="Externa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hyperlink" Target="https://anaconda.org/conda-forge"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hyperlink" Target="https://code.visualstudio.com/download"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image" Target="../media/image20.png"/><Relationship Id="rId6" Type="http://schemas.openxmlformats.org/officeDocument/2006/relationships/tags" Target="../tags/tag3.xml"/><Relationship Id="rId5" Type="http://schemas.openxmlformats.org/officeDocument/2006/relationships/image" Target="../media/image19.png"/><Relationship Id="rId4" Type="http://schemas.openxmlformats.org/officeDocument/2006/relationships/tags" Target="../tags/tag2.xml"/><Relationship Id="rId3" Type="http://schemas.openxmlformats.org/officeDocument/2006/relationships/image" Target="../media/image18.png"/><Relationship Id="rId2" Type="http://schemas.openxmlformats.org/officeDocument/2006/relationships/tags" Target="../tags/tag1.xml"/><Relationship Id="rId12" Type="http://schemas.openxmlformats.org/officeDocument/2006/relationships/notesSlide" Target="../notesSlides/notesSlide11.xml"/><Relationship Id="rId11" Type="http://schemas.openxmlformats.org/officeDocument/2006/relationships/slideLayout" Target="../slideLayouts/slideLayout2.xml"/><Relationship Id="rId10" Type="http://schemas.openxmlformats.org/officeDocument/2006/relationships/tags" Target="../tags/tag6.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Rectangles 2"/>
          <p:cNvSpPr/>
          <p:nvPr/>
        </p:nvSpPr>
        <p:spPr>
          <a:xfrm>
            <a:off x="3992880" y="0"/>
            <a:ext cx="8188960" cy="687641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 name="Text Box 4"/>
          <p:cNvSpPr txBox="1"/>
          <p:nvPr/>
        </p:nvSpPr>
        <p:spPr>
          <a:xfrm>
            <a:off x="4271010" y="1162050"/>
            <a:ext cx="7911465" cy="1691640"/>
          </a:xfrm>
          <a:prstGeom prst="rect">
            <a:avLst/>
          </a:prstGeom>
          <a:noFill/>
        </p:spPr>
        <p:txBody>
          <a:bodyPr wrap="square" rtlCol="0" anchor="t">
            <a:spAutoFit/>
          </a:bodyPr>
          <a:p>
            <a:pPr algn="l"/>
            <a:r>
              <a:rPr lang="en-US" altLang="en-US" sz="4400">
                <a:solidFill>
                  <a:srgbClr val="8B8D08"/>
                </a:solidFill>
                <a:latin typeface="Arial" panose="020B0604020202020204" pitchFamily="34" charset="0"/>
                <a:cs typeface="Arial" panose="020B0604020202020204" pitchFamily="34" charset="0"/>
                <a:sym typeface="+mn-ea"/>
              </a:rPr>
              <a:t>PERSIAPAN KURSUS</a:t>
            </a:r>
            <a:endParaRPr lang="en-US" altLang="en-US" sz="4400">
              <a:solidFill>
                <a:srgbClr val="8B8D08"/>
              </a:solidFill>
              <a:latin typeface="Arial" panose="020B0604020202020204" pitchFamily="34" charset="0"/>
              <a:cs typeface="Arial" panose="020B0604020202020204" pitchFamily="34" charset="0"/>
              <a:sym typeface="+mn-ea"/>
            </a:endParaRPr>
          </a:p>
          <a:p>
            <a:pPr algn="l"/>
            <a:r>
              <a:rPr lang="en-US" altLang="en-US" sz="6000">
                <a:solidFill>
                  <a:srgbClr val="8B8D08"/>
                </a:solidFill>
                <a:latin typeface="Arial" panose="020B0604020202020204" pitchFamily="34" charset="0"/>
                <a:cs typeface="Arial" panose="020B0604020202020204" pitchFamily="34" charset="0"/>
                <a:sym typeface="+mn-ea"/>
              </a:rPr>
              <a:t>COMPUTER VISION</a:t>
            </a:r>
            <a:endParaRPr lang="en-US" altLang="en-US" sz="6000">
              <a:solidFill>
                <a:srgbClr val="8B8D08"/>
              </a:solidFill>
              <a:latin typeface="Arial" panose="020B0604020202020204" pitchFamily="34" charset="0"/>
              <a:cs typeface="Arial" panose="020B0604020202020204" pitchFamily="34" charset="0"/>
              <a:sym typeface="+mn-ea"/>
            </a:endParaRPr>
          </a:p>
        </p:txBody>
      </p:sp>
      <p:pic>
        <p:nvPicPr>
          <p:cNvPr id="11" name="Picture 10"/>
          <p:cNvPicPr>
            <a:picLocks noChangeAspect="1"/>
          </p:cNvPicPr>
          <p:nvPr/>
        </p:nvPicPr>
        <p:blipFill>
          <a:blip r:embed="rId1"/>
          <a:stretch>
            <a:fillRect/>
          </a:stretch>
        </p:blipFill>
        <p:spPr>
          <a:xfrm>
            <a:off x="9646920" y="6120765"/>
            <a:ext cx="2447925" cy="662940"/>
          </a:xfrm>
          <a:prstGeom prst="rect">
            <a:avLst/>
          </a:prstGeom>
        </p:spPr>
      </p:pic>
      <p:pic>
        <p:nvPicPr>
          <p:cNvPr id="41" name="Picture 40" descr="OpenCV_Logo_with_text"/>
          <p:cNvPicPr>
            <a:picLocks noChangeAspect="1"/>
          </p:cNvPicPr>
          <p:nvPr/>
        </p:nvPicPr>
        <p:blipFill>
          <a:blip r:embed="rId2"/>
          <a:stretch>
            <a:fillRect/>
          </a:stretch>
        </p:blipFill>
        <p:spPr>
          <a:xfrm>
            <a:off x="4619625" y="3261995"/>
            <a:ext cx="1572260" cy="1938020"/>
          </a:xfrm>
          <a:prstGeom prst="rect">
            <a:avLst/>
          </a:prstGeom>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s 6"/>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4" name="Title 3"/>
          <p:cNvSpPr>
            <a:spLocks noGrp="1"/>
          </p:cNvSpPr>
          <p:nvPr>
            <p:ph type="title"/>
          </p:nvPr>
        </p:nvSpPr>
        <p:spPr>
          <a:xfrm>
            <a:off x="403860" y="0"/>
            <a:ext cx="10515600" cy="975995"/>
          </a:xfrm>
        </p:spPr>
        <p:txBody>
          <a:bodyPr>
            <a:normAutofit/>
          </a:bodyPr>
          <a:p>
            <a:r>
              <a:rPr lang="en-US">
                <a:solidFill>
                  <a:srgbClr val="8B8D08"/>
                </a:solidFill>
                <a:sym typeface="+mn-ea"/>
              </a:rPr>
              <a:t>Catatan</a:t>
            </a:r>
            <a:endParaRPr lang="en-US">
              <a:solidFill>
                <a:srgbClr val="8B8D08"/>
              </a:solidFill>
              <a:sym typeface="+mn-ea"/>
            </a:endParaRPr>
          </a:p>
        </p:txBody>
      </p:sp>
      <p:sp>
        <p:nvSpPr>
          <p:cNvPr id="5" name="Text Box 4"/>
          <p:cNvSpPr txBox="1"/>
          <p:nvPr/>
        </p:nvSpPr>
        <p:spPr>
          <a:xfrm>
            <a:off x="1129665" y="1478280"/>
            <a:ext cx="10638155" cy="3415030"/>
          </a:xfrm>
          <a:prstGeom prst="rect">
            <a:avLst/>
          </a:prstGeom>
          <a:noFill/>
        </p:spPr>
        <p:txBody>
          <a:bodyPr wrap="square" rtlCol="0">
            <a:spAutoFit/>
          </a:bodyPr>
          <a:p>
            <a:pPr indent="0">
              <a:buFont typeface="Arial" panose="020B0604020202020204" pitchFamily="34" charset="0"/>
              <a:buNone/>
            </a:pPr>
            <a:r>
              <a:rPr lang="en-US" sz="2400"/>
              <a:t>Pada Kursus ini kita akan Menggunakan beberapa Teknologi Berikut,</a:t>
            </a:r>
            <a:endParaRPr lang="en-US" sz="2400"/>
          </a:p>
          <a:p>
            <a:pPr indent="0">
              <a:buFont typeface="Arial" panose="020B0604020202020204" pitchFamily="34" charset="0"/>
              <a:buNone/>
            </a:pPr>
            <a:endParaRPr lang="en-US" sz="2400"/>
          </a:p>
          <a:p>
            <a:pPr indent="0">
              <a:buFont typeface="Arial" panose="020B0604020202020204" pitchFamily="34" charset="0"/>
              <a:buNone/>
            </a:pPr>
            <a:r>
              <a:rPr lang="en-US" sz="2400"/>
              <a:t>- Bahasa Pemograman : </a:t>
            </a:r>
            <a:r>
              <a:rPr lang="en-US" sz="2400" b="1"/>
              <a:t>Python </a:t>
            </a:r>
            <a:endParaRPr lang="en-US" sz="2400"/>
          </a:p>
          <a:p>
            <a:pPr indent="0">
              <a:buFont typeface="Arial" panose="020B0604020202020204" pitchFamily="34" charset="0"/>
              <a:buNone/>
            </a:pPr>
            <a:r>
              <a:rPr lang="en-US" sz="2400"/>
              <a:t>- </a:t>
            </a:r>
            <a:r>
              <a:rPr lang="en-US" sz="2400">
                <a:sym typeface="+mn-ea"/>
              </a:rPr>
              <a:t>Package Management : </a:t>
            </a:r>
            <a:r>
              <a:rPr lang="en-US" sz="2400" b="1"/>
              <a:t>Anaconda </a:t>
            </a:r>
            <a:r>
              <a:rPr lang="en-US" sz="2000" i="1"/>
              <a:t>(Managing Environment &amp; Python Package)</a:t>
            </a:r>
            <a:endParaRPr lang="en-US" sz="2000" i="1"/>
          </a:p>
          <a:p>
            <a:pPr indent="0">
              <a:buFont typeface="Arial" panose="020B0604020202020204" pitchFamily="34" charset="0"/>
              <a:buNone/>
            </a:pPr>
            <a:r>
              <a:rPr lang="en-US" sz="2400"/>
              <a:t>- Code Editor : </a:t>
            </a:r>
            <a:r>
              <a:rPr lang="en-US" sz="2400" b="1"/>
              <a:t>Visual Studio Code</a:t>
            </a:r>
            <a:endParaRPr lang="en-US" sz="2400" b="1"/>
          </a:p>
          <a:p>
            <a:pPr indent="0">
              <a:buFont typeface="Arial" panose="020B0604020202020204" pitchFamily="34" charset="0"/>
              <a:buNone/>
            </a:pPr>
            <a:endParaRPr lang="en-US" sz="2400" b="1"/>
          </a:p>
          <a:p>
            <a:pPr indent="0">
              <a:buFont typeface="Arial" panose="020B0604020202020204" pitchFamily="34" charset="0"/>
              <a:buNone/>
            </a:pPr>
            <a:endParaRPr lang="en-US" sz="2400" b="1"/>
          </a:p>
          <a:p>
            <a:pPr indent="0">
              <a:buFont typeface="Arial" panose="020B0604020202020204" pitchFamily="34" charset="0"/>
              <a:buNone/>
            </a:pPr>
            <a:r>
              <a:rPr lang="en-US" sz="2400"/>
              <a:t>Sehingga untuk mengikuti Kursus ini, peserta harus familiar dengan Pemrograman Python.</a:t>
            </a:r>
            <a:endParaRPr 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 name="Rectangles 6"/>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itle 1"/>
          <p:cNvSpPr>
            <a:spLocks noGrp="1"/>
          </p:cNvSpPr>
          <p:nvPr>
            <p:ph type="title"/>
          </p:nvPr>
        </p:nvSpPr>
        <p:spPr>
          <a:xfrm>
            <a:off x="403860" y="0"/>
            <a:ext cx="10515600" cy="975995"/>
          </a:xfrm>
        </p:spPr>
        <p:txBody>
          <a:bodyPr>
            <a:normAutofit/>
          </a:bodyPr>
          <a:p>
            <a:r>
              <a:rPr lang="en-US">
                <a:solidFill>
                  <a:srgbClr val="8B8D08"/>
                </a:solidFill>
                <a:sym typeface="+mn-ea"/>
              </a:rPr>
              <a:t>Python Package Management </a:t>
            </a:r>
            <a:r>
              <a:rPr lang="en-US" b="1">
                <a:solidFill>
                  <a:srgbClr val="8B8D08"/>
                </a:solidFill>
                <a:sym typeface="+mn-ea"/>
              </a:rPr>
              <a:t>Anaconda</a:t>
            </a:r>
            <a:endParaRPr lang="en-US" b="1">
              <a:solidFill>
                <a:srgbClr val="8B8D08"/>
              </a:solidFill>
              <a:sym typeface="+mn-ea"/>
            </a:endParaRPr>
          </a:p>
        </p:txBody>
      </p:sp>
      <p:pic>
        <p:nvPicPr>
          <p:cNvPr id="6" name="Picture 5"/>
          <p:cNvPicPr>
            <a:picLocks noChangeAspect="1"/>
          </p:cNvPicPr>
          <p:nvPr/>
        </p:nvPicPr>
        <p:blipFill>
          <a:blip r:embed="rId1"/>
          <a:stretch>
            <a:fillRect/>
          </a:stretch>
        </p:blipFill>
        <p:spPr>
          <a:xfrm>
            <a:off x="1094740" y="3106420"/>
            <a:ext cx="7715250" cy="3608070"/>
          </a:xfrm>
          <a:prstGeom prst="rect">
            <a:avLst/>
          </a:prstGeom>
          <a:ln>
            <a:solidFill>
              <a:schemeClr val="bg1">
                <a:lumMod val="85000"/>
              </a:schemeClr>
            </a:solidFill>
          </a:ln>
        </p:spPr>
      </p:pic>
      <p:sp>
        <p:nvSpPr>
          <p:cNvPr id="3" name="Text Box 2"/>
          <p:cNvSpPr txBox="1"/>
          <p:nvPr/>
        </p:nvSpPr>
        <p:spPr>
          <a:xfrm>
            <a:off x="1094740" y="2395220"/>
            <a:ext cx="6096000" cy="460375"/>
          </a:xfrm>
          <a:prstGeom prst="rect">
            <a:avLst/>
          </a:prstGeom>
          <a:noFill/>
        </p:spPr>
        <p:txBody>
          <a:bodyPr wrap="square" rtlCol="0" anchor="t">
            <a:spAutoFit/>
          </a:bodyPr>
          <a:p>
            <a:r>
              <a:rPr lang="en-US" sz="2400">
                <a:sym typeface="+mn-ea"/>
                <a:hlinkClick r:id="rId2" action="ppaction://hlinkfile"/>
              </a:rPr>
              <a:t>https://www.anaconda.com/</a:t>
            </a:r>
            <a:endParaRPr lang="en-US" sz="2400">
              <a:sym typeface="+mn-ea"/>
              <a:hlinkClick r:id="rId2" action="ppaction://hlinkfile"/>
            </a:endParaRPr>
          </a:p>
        </p:txBody>
      </p:sp>
      <p:sp>
        <p:nvSpPr>
          <p:cNvPr id="5" name="Text Box 4"/>
          <p:cNvSpPr txBox="1"/>
          <p:nvPr/>
        </p:nvSpPr>
        <p:spPr>
          <a:xfrm>
            <a:off x="1094740" y="1123950"/>
            <a:ext cx="10154285" cy="1193800"/>
          </a:xfrm>
          <a:prstGeom prst="rect">
            <a:avLst/>
          </a:prstGeom>
          <a:noFill/>
        </p:spPr>
        <p:txBody>
          <a:bodyPr wrap="square" rtlCol="0">
            <a:noAutofit/>
          </a:bodyPr>
          <a:p>
            <a:r>
              <a:rPr lang="en-US" sz="2400"/>
              <a:t>Anaconda adalah </a:t>
            </a:r>
            <a:r>
              <a:rPr lang="en-US" sz="2400">
                <a:sym typeface="+mn-ea"/>
              </a:rPr>
              <a:t>package management yang membantu ngelola resource seperti package / library dan environment pada python. Anaconda merupakan alternatif </a:t>
            </a:r>
            <a:r>
              <a:rPr lang="en-US" sz="2400" b="1">
                <a:sym typeface="+mn-ea"/>
              </a:rPr>
              <a:t>pip </a:t>
            </a:r>
            <a:r>
              <a:rPr lang="en-US" sz="2400">
                <a:sym typeface="+mn-ea"/>
              </a:rPr>
              <a:t>package management.</a:t>
            </a:r>
            <a:endParaRPr lang="en-US" sz="2400"/>
          </a:p>
          <a:p>
            <a:endParaRPr 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5" name="Rectangles 14"/>
          <p:cNvSpPr/>
          <p:nvPr/>
        </p:nvSpPr>
        <p:spPr>
          <a:xfrm>
            <a:off x="0" y="1557655"/>
            <a:ext cx="12207240" cy="5300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t>https://conda-forge.org/</a:t>
            </a:r>
            <a:endParaRPr lang="en-US"/>
          </a:p>
        </p:txBody>
      </p:sp>
      <p:sp>
        <p:nvSpPr>
          <p:cNvPr id="5" name="Text Box 4"/>
          <p:cNvSpPr txBox="1"/>
          <p:nvPr/>
        </p:nvSpPr>
        <p:spPr>
          <a:xfrm>
            <a:off x="270510" y="1691005"/>
            <a:ext cx="4815205" cy="3046095"/>
          </a:xfrm>
          <a:prstGeom prst="rect">
            <a:avLst/>
          </a:prstGeom>
          <a:noFill/>
        </p:spPr>
        <p:txBody>
          <a:bodyPr wrap="square" rtlCol="0">
            <a:spAutoFit/>
          </a:bodyPr>
          <a:p>
            <a:r>
              <a:rPr lang="en-US" sz="2400"/>
              <a:t>Merupakan repository library python yang dimaintain onleh Anaconda, disebut juga sebagai conda package manager.</a:t>
            </a:r>
            <a:endParaRPr lang="en-US" sz="2400"/>
          </a:p>
          <a:p>
            <a:endParaRPr lang="en-US" sz="2400"/>
          </a:p>
          <a:p>
            <a:endParaRPr lang="en-US" sz="2400"/>
          </a:p>
          <a:p>
            <a:r>
              <a:rPr lang="en-US" sz="2400"/>
              <a:t>Kunjungi Conda-Forge untuk melihat package Python yang tersedia</a:t>
            </a:r>
            <a:endParaRPr lang="en-US" sz="2400"/>
          </a:p>
        </p:txBody>
      </p:sp>
      <p:sp>
        <p:nvSpPr>
          <p:cNvPr id="6" name="Text Box 5"/>
          <p:cNvSpPr txBox="1"/>
          <p:nvPr/>
        </p:nvSpPr>
        <p:spPr>
          <a:xfrm>
            <a:off x="270510" y="5067300"/>
            <a:ext cx="5281295" cy="460375"/>
          </a:xfrm>
          <a:prstGeom prst="rect">
            <a:avLst/>
          </a:prstGeom>
          <a:noFill/>
        </p:spPr>
        <p:txBody>
          <a:bodyPr wrap="square" rtlCol="0" anchor="t">
            <a:spAutoFit/>
          </a:bodyPr>
          <a:p>
            <a:r>
              <a:rPr lang="en-US" sz="2400">
                <a:hlinkClick r:id="rId1" action="ppaction://hlinkfile"/>
              </a:rPr>
              <a:t>https://anaconda.org/conda-forge</a:t>
            </a:r>
            <a:endParaRPr lang="en-US" sz="2400">
              <a:hlinkClick r:id="rId1" action="ppaction://hlinkfile"/>
            </a:endParaRPr>
          </a:p>
        </p:txBody>
      </p:sp>
      <p:pic>
        <p:nvPicPr>
          <p:cNvPr id="7" name="Content Placeholder 6"/>
          <p:cNvPicPr>
            <a:picLocks noChangeAspect="1"/>
          </p:cNvPicPr>
          <p:nvPr>
            <p:ph idx="1"/>
          </p:nvPr>
        </p:nvPicPr>
        <p:blipFill>
          <a:blip r:embed="rId2"/>
          <a:srcRect r="13707"/>
          <a:stretch>
            <a:fillRect/>
          </a:stretch>
        </p:blipFill>
        <p:spPr>
          <a:xfrm>
            <a:off x="5763895" y="1754505"/>
            <a:ext cx="6428105" cy="4351655"/>
          </a:xfrm>
          <a:prstGeom prst="rect">
            <a:avLst/>
          </a:prstGeom>
        </p:spPr>
      </p:pic>
      <p:sp>
        <p:nvSpPr>
          <p:cNvPr id="9" name="Rectangles 8"/>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Title 1"/>
          <p:cNvSpPr>
            <a:spLocks noGrp="1"/>
          </p:cNvSpPr>
          <p:nvPr/>
        </p:nvSpPr>
        <p:spPr>
          <a:xfrm>
            <a:off x="403860" y="0"/>
            <a:ext cx="10515600" cy="975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8B8D08"/>
                </a:solidFill>
                <a:sym typeface="+mn-ea"/>
              </a:rPr>
              <a:t>Conda Forge</a:t>
            </a:r>
            <a:endParaRPr lang="en-US" b="1">
              <a:solidFill>
                <a:srgbClr val="8B8D08"/>
              </a:solidFill>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 name="Rectangles 14"/>
          <p:cNvSpPr/>
          <p:nvPr/>
        </p:nvSpPr>
        <p:spPr>
          <a:xfrm>
            <a:off x="0" y="1557655"/>
            <a:ext cx="12207240" cy="5300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pic>
        <p:nvPicPr>
          <p:cNvPr id="4" name="Picture 3"/>
          <p:cNvPicPr>
            <a:picLocks noChangeAspect="1"/>
          </p:cNvPicPr>
          <p:nvPr/>
        </p:nvPicPr>
        <p:blipFill>
          <a:blip r:embed="rId1"/>
          <a:stretch>
            <a:fillRect/>
          </a:stretch>
        </p:blipFill>
        <p:spPr>
          <a:xfrm>
            <a:off x="1056005" y="3082925"/>
            <a:ext cx="9725025" cy="3242310"/>
          </a:xfrm>
          <a:prstGeom prst="rect">
            <a:avLst/>
          </a:prstGeom>
        </p:spPr>
      </p:pic>
      <p:sp>
        <p:nvSpPr>
          <p:cNvPr id="5" name="Text Box 4"/>
          <p:cNvSpPr txBox="1"/>
          <p:nvPr/>
        </p:nvSpPr>
        <p:spPr>
          <a:xfrm>
            <a:off x="1056005" y="1557655"/>
            <a:ext cx="10572750" cy="1198880"/>
          </a:xfrm>
          <a:prstGeom prst="rect">
            <a:avLst/>
          </a:prstGeom>
          <a:noFill/>
        </p:spPr>
        <p:txBody>
          <a:bodyPr wrap="square" rtlCol="0">
            <a:spAutoFit/>
          </a:bodyPr>
          <a:p>
            <a:pPr marL="285750" indent="-285750">
              <a:buFont typeface="Arial" panose="020B0604020202020204" pitchFamily="34" charset="0"/>
              <a:buChar char="•"/>
            </a:pPr>
            <a:r>
              <a:rPr lang="en-US" sz="2400"/>
              <a:t>Scroll sampai bawah pada </a:t>
            </a:r>
            <a:r>
              <a:rPr lang="en-US" sz="2400" b="1"/>
              <a:t>halaman home website Anaconda</a:t>
            </a:r>
            <a:endParaRPr lang="en-US" sz="2400" b="1"/>
          </a:p>
          <a:p>
            <a:pPr marL="285750" indent="-285750">
              <a:buFont typeface="Arial" panose="020B0604020202020204" pitchFamily="34" charset="0"/>
              <a:buChar char="•"/>
            </a:pPr>
            <a:r>
              <a:rPr lang="en-US" sz="2400"/>
              <a:t>Download versi </a:t>
            </a:r>
            <a:r>
              <a:rPr lang="en-US" sz="2400" b="1"/>
              <a:t>Windows 64-bit </a:t>
            </a:r>
            <a:r>
              <a:rPr lang="en-US" sz="2400"/>
              <a:t>(Jika Menggunakan Windows)</a:t>
            </a:r>
            <a:endParaRPr lang="en-US" sz="2400" b="1"/>
          </a:p>
          <a:p>
            <a:pPr marL="285750" indent="-285750">
              <a:buFont typeface="Arial" panose="020B0604020202020204" pitchFamily="34" charset="0"/>
              <a:buChar char="•"/>
            </a:pPr>
            <a:r>
              <a:rPr lang="en-US" sz="2400"/>
              <a:t>Lalu Install pada komputer (lakukan proses intalasi seperti biasa)</a:t>
            </a:r>
            <a:endParaRPr lang="en-US" sz="2400"/>
          </a:p>
        </p:txBody>
      </p:sp>
      <p:sp>
        <p:nvSpPr>
          <p:cNvPr id="7" name="Rectangles 6"/>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 name="Title 1"/>
          <p:cNvSpPr>
            <a:spLocks noGrp="1"/>
          </p:cNvSpPr>
          <p:nvPr/>
        </p:nvSpPr>
        <p:spPr>
          <a:xfrm>
            <a:off x="403860" y="0"/>
            <a:ext cx="10515600" cy="975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8B8D08"/>
                </a:solidFill>
                <a:sym typeface="+mn-ea"/>
              </a:rPr>
              <a:t>Download &amp; Install </a:t>
            </a:r>
            <a:r>
              <a:rPr lang="en-US" b="1">
                <a:solidFill>
                  <a:srgbClr val="8B8D08"/>
                </a:solidFill>
                <a:sym typeface="+mn-ea"/>
              </a:rPr>
              <a:t>Anaconda</a:t>
            </a:r>
            <a:endParaRPr lang="en-US" b="1">
              <a:solidFill>
                <a:srgbClr val="8B8D08"/>
              </a:solidFill>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5" name="Rectangles 14"/>
          <p:cNvSpPr/>
          <p:nvPr/>
        </p:nvSpPr>
        <p:spPr>
          <a:xfrm>
            <a:off x="0" y="1557655"/>
            <a:ext cx="12207240" cy="5300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pic>
        <p:nvPicPr>
          <p:cNvPr id="6" name="Picture 5"/>
          <p:cNvPicPr>
            <a:picLocks noChangeAspect="1"/>
          </p:cNvPicPr>
          <p:nvPr/>
        </p:nvPicPr>
        <p:blipFill>
          <a:blip r:embed="rId1"/>
          <a:srcRect r="5968"/>
          <a:stretch>
            <a:fillRect/>
          </a:stretch>
        </p:blipFill>
        <p:spPr>
          <a:xfrm>
            <a:off x="4643120" y="3087370"/>
            <a:ext cx="7223125" cy="3778885"/>
          </a:xfrm>
          <a:prstGeom prst="rect">
            <a:avLst/>
          </a:prstGeom>
        </p:spPr>
      </p:pic>
      <p:sp>
        <p:nvSpPr>
          <p:cNvPr id="4" name="Text Box 3"/>
          <p:cNvSpPr txBox="1"/>
          <p:nvPr/>
        </p:nvSpPr>
        <p:spPr>
          <a:xfrm>
            <a:off x="270510" y="1113790"/>
            <a:ext cx="11682730" cy="1938020"/>
          </a:xfrm>
          <a:prstGeom prst="rect">
            <a:avLst/>
          </a:prstGeom>
          <a:noFill/>
        </p:spPr>
        <p:txBody>
          <a:bodyPr wrap="square" rtlCol="0">
            <a:spAutoFit/>
          </a:bodyPr>
          <a:p>
            <a:r>
              <a:rPr lang="en-US" sz="2400"/>
              <a:t>Setelah instalasi sebelumnya berhasil, maka pada komputer akan terinstal </a:t>
            </a:r>
            <a:r>
              <a:rPr lang="en-US" sz="2400" b="1"/>
              <a:t>Anaconda Navigator</a:t>
            </a:r>
            <a:r>
              <a:rPr lang="en-US" sz="2400"/>
              <a:t> dan beberapa tools lainya yang juga terinstall. </a:t>
            </a:r>
            <a:endParaRPr lang="en-US" sz="2400"/>
          </a:p>
          <a:p>
            <a:endParaRPr lang="en-US" sz="2400" b="1"/>
          </a:p>
          <a:p>
            <a:r>
              <a:rPr lang="en-US" sz="2400" b="1"/>
              <a:t>Anaconda Navigator</a:t>
            </a:r>
            <a:r>
              <a:rPr lang="en-US" sz="2400"/>
              <a:t> adalah management conda tools &amp; package berbasis GUI, selain itu kita juga akan menggunakan </a:t>
            </a:r>
            <a:r>
              <a:rPr lang="en-US" sz="2400" b="1"/>
              <a:t>Anaconda Prompt</a:t>
            </a:r>
            <a:r>
              <a:rPr lang="en-US" sz="2400"/>
              <a:t> untuk proses belajar OpenCV.</a:t>
            </a:r>
            <a:endParaRPr lang="en-US" sz="2400"/>
          </a:p>
        </p:txBody>
      </p:sp>
      <p:pic>
        <p:nvPicPr>
          <p:cNvPr id="7" name="Content Placeholder 6"/>
          <p:cNvPicPr>
            <a:picLocks noChangeAspect="1"/>
          </p:cNvPicPr>
          <p:nvPr>
            <p:ph idx="1"/>
          </p:nvPr>
        </p:nvPicPr>
        <p:blipFill>
          <a:blip r:embed="rId2"/>
          <a:srcRect l="1599" t="5535" r="1870" b="7233"/>
          <a:stretch>
            <a:fillRect/>
          </a:stretch>
        </p:blipFill>
        <p:spPr>
          <a:xfrm>
            <a:off x="380365" y="3740150"/>
            <a:ext cx="4064000" cy="880745"/>
          </a:xfrm>
          <a:prstGeom prst="rect">
            <a:avLst/>
          </a:prstGeom>
        </p:spPr>
      </p:pic>
      <p:pic>
        <p:nvPicPr>
          <p:cNvPr id="10" name="Picture 9"/>
          <p:cNvPicPr>
            <a:picLocks noChangeAspect="1"/>
          </p:cNvPicPr>
          <p:nvPr/>
        </p:nvPicPr>
        <p:blipFill>
          <a:blip r:embed="rId3"/>
          <a:srcRect l="2932" t="9167"/>
          <a:stretch>
            <a:fillRect/>
          </a:stretch>
        </p:blipFill>
        <p:spPr>
          <a:xfrm>
            <a:off x="391160" y="4780280"/>
            <a:ext cx="4053205" cy="913130"/>
          </a:xfrm>
          <a:prstGeom prst="rect">
            <a:avLst/>
          </a:prstGeom>
        </p:spPr>
      </p:pic>
      <p:sp>
        <p:nvSpPr>
          <p:cNvPr id="9" name="Rectangles 8"/>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 name="Title 1"/>
          <p:cNvSpPr>
            <a:spLocks noGrp="1"/>
          </p:cNvSpPr>
          <p:nvPr/>
        </p:nvSpPr>
        <p:spPr>
          <a:xfrm>
            <a:off x="403860" y="0"/>
            <a:ext cx="10515600" cy="975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8B8D08"/>
                </a:solidFill>
                <a:sym typeface="+mn-ea"/>
              </a:rPr>
              <a:t>Anaconda Navigator</a:t>
            </a:r>
            <a:endParaRPr lang="en-US" b="1">
              <a:solidFill>
                <a:srgbClr val="8B8D08"/>
              </a:solidFill>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3" name="Picture 2"/>
          <p:cNvPicPr>
            <a:picLocks noChangeAspect="1"/>
          </p:cNvPicPr>
          <p:nvPr/>
        </p:nvPicPr>
        <p:blipFill>
          <a:blip r:embed="rId1"/>
          <a:srcRect r="45896"/>
          <a:stretch>
            <a:fillRect/>
          </a:stretch>
        </p:blipFill>
        <p:spPr>
          <a:xfrm>
            <a:off x="7336155" y="1691005"/>
            <a:ext cx="4855845" cy="4704080"/>
          </a:xfrm>
          <a:prstGeom prst="rect">
            <a:avLst/>
          </a:prstGeom>
          <a:ln>
            <a:solidFill>
              <a:schemeClr val="bg1">
                <a:lumMod val="85000"/>
              </a:schemeClr>
            </a:solidFill>
          </a:ln>
        </p:spPr>
      </p:pic>
      <p:sp>
        <p:nvSpPr>
          <p:cNvPr id="6" name="Text Box 5"/>
          <p:cNvSpPr txBox="1"/>
          <p:nvPr/>
        </p:nvSpPr>
        <p:spPr>
          <a:xfrm>
            <a:off x="270510" y="1691005"/>
            <a:ext cx="6913245" cy="4154170"/>
          </a:xfrm>
          <a:prstGeom prst="rect">
            <a:avLst/>
          </a:prstGeom>
          <a:noFill/>
        </p:spPr>
        <p:txBody>
          <a:bodyPr wrap="square" rtlCol="0">
            <a:spAutoFit/>
          </a:bodyPr>
          <a:p>
            <a:r>
              <a:rPr lang="en-US" sz="2400" b="1"/>
              <a:t>Anaconda Prompt </a:t>
            </a:r>
            <a:r>
              <a:rPr lang="en-US" sz="2400"/>
              <a:t>adalah management conda tools &amp; package berbasis </a:t>
            </a:r>
            <a:r>
              <a:rPr lang="en-US" sz="2400" b="1"/>
              <a:t>CLI</a:t>
            </a:r>
            <a:r>
              <a:rPr lang="en-US" sz="2400"/>
              <a:t>, penggunaanya seperti kita menggunakan CMD. </a:t>
            </a:r>
            <a:endParaRPr lang="en-US" sz="2400"/>
          </a:p>
          <a:p>
            <a:endParaRPr lang="en-US" sz="2400"/>
          </a:p>
          <a:p>
            <a:r>
              <a:rPr lang="en-US" sz="2400"/>
              <a:t>Dengan menggunakan Anaconda Prompt akan </a:t>
            </a:r>
            <a:r>
              <a:rPr lang="en-US" sz="2400" b="1"/>
              <a:t>terasa lebih ringan</a:t>
            </a:r>
            <a:r>
              <a:rPr lang="en-US" sz="2400"/>
              <a:t> jika dibandingkan Anaconda Navigator yang berbasis GUI. </a:t>
            </a:r>
            <a:endParaRPr lang="en-US" sz="2400"/>
          </a:p>
          <a:p>
            <a:endParaRPr lang="en-US" sz="2400"/>
          </a:p>
          <a:p>
            <a:r>
              <a:rPr lang="en-US" sz="2400"/>
              <a:t>Keduanya memiliki </a:t>
            </a:r>
            <a:r>
              <a:rPr lang="en-US" sz="2400" b="1"/>
              <a:t>fungsi yang sama</a:t>
            </a:r>
            <a:r>
              <a:rPr lang="en-US" sz="2400"/>
              <a:t>, yaitu untuk membantu ngelola resource seperti package / library dan environment pada python.</a:t>
            </a:r>
            <a:endParaRPr lang="en-US" sz="2400"/>
          </a:p>
        </p:txBody>
      </p:sp>
      <p:sp>
        <p:nvSpPr>
          <p:cNvPr id="9" name="Rectangles 8"/>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 name="Title 1"/>
          <p:cNvSpPr>
            <a:spLocks noGrp="1"/>
          </p:cNvSpPr>
          <p:nvPr/>
        </p:nvSpPr>
        <p:spPr>
          <a:xfrm>
            <a:off x="403860" y="0"/>
            <a:ext cx="10515600" cy="975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8B8D08"/>
                </a:solidFill>
                <a:sym typeface="+mn-ea"/>
              </a:rPr>
              <a:t>Anaconda Prompt</a:t>
            </a:r>
            <a:endParaRPr lang="en-US" b="1">
              <a:solidFill>
                <a:srgbClr val="8B8D08"/>
              </a:solidFill>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 name="Rectangles 14"/>
          <p:cNvSpPr/>
          <p:nvPr/>
        </p:nvSpPr>
        <p:spPr>
          <a:xfrm>
            <a:off x="0" y="803910"/>
            <a:ext cx="12207240" cy="605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 name="Text Box 5"/>
          <p:cNvSpPr txBox="1"/>
          <p:nvPr/>
        </p:nvSpPr>
        <p:spPr>
          <a:xfrm>
            <a:off x="270510" y="1135380"/>
            <a:ext cx="11921490" cy="460375"/>
          </a:xfrm>
          <a:prstGeom prst="rect">
            <a:avLst/>
          </a:prstGeom>
          <a:noFill/>
        </p:spPr>
        <p:txBody>
          <a:bodyPr wrap="square" rtlCol="0">
            <a:spAutoFit/>
          </a:bodyPr>
          <a:p>
            <a:pPr marL="342900" indent="-342900">
              <a:buFont typeface="Arial" panose="020B0604020202020204" pitchFamily="34" charset="0"/>
              <a:buChar char="•"/>
            </a:pPr>
            <a:r>
              <a:rPr lang="en-US" sz="2400"/>
              <a:t>Buka </a:t>
            </a:r>
            <a:r>
              <a:rPr lang="en-US" sz="2400" b="1"/>
              <a:t>Anaconda Prompt</a:t>
            </a:r>
            <a:r>
              <a:rPr lang="en-US" sz="2400"/>
              <a:t> , lalu jalankan perintah berikut,</a:t>
            </a:r>
            <a:endParaRPr lang="en-US">
              <a:latin typeface="Cascadia Mono Light" panose="020B0609020000020004" charset="0"/>
              <a:cs typeface="Cascadia Mono Light" panose="020B0609020000020004" charset="0"/>
            </a:endParaRPr>
          </a:p>
        </p:txBody>
      </p:sp>
      <p:pic>
        <p:nvPicPr>
          <p:cNvPr id="4" name="Content Placeholder 3"/>
          <p:cNvPicPr>
            <a:picLocks noChangeAspect="1"/>
          </p:cNvPicPr>
          <p:nvPr>
            <p:ph idx="1"/>
          </p:nvPr>
        </p:nvPicPr>
        <p:blipFill>
          <a:blip r:embed="rId1"/>
          <a:srcRect t="62055"/>
          <a:stretch>
            <a:fillRect/>
          </a:stretch>
        </p:blipFill>
        <p:spPr>
          <a:xfrm>
            <a:off x="694690" y="2690495"/>
            <a:ext cx="6054090" cy="994410"/>
          </a:xfrm>
          <a:prstGeom prst="rect">
            <a:avLst/>
          </a:prstGeom>
        </p:spPr>
      </p:pic>
      <p:sp>
        <p:nvSpPr>
          <p:cNvPr id="5" name="Text Box 4"/>
          <p:cNvSpPr txBox="1"/>
          <p:nvPr/>
        </p:nvSpPr>
        <p:spPr>
          <a:xfrm>
            <a:off x="270510" y="2177415"/>
            <a:ext cx="11937365" cy="460375"/>
          </a:xfrm>
          <a:prstGeom prst="rect">
            <a:avLst/>
          </a:prstGeom>
          <a:noFill/>
        </p:spPr>
        <p:txBody>
          <a:bodyPr wrap="square" rtlCol="0">
            <a:spAutoFit/>
          </a:bodyPr>
          <a:p>
            <a:pPr marL="342900" indent="-342900">
              <a:buFont typeface="Arial" panose="020B0604020202020204" pitchFamily="34" charset="0"/>
              <a:buChar char="•"/>
            </a:pPr>
            <a:r>
              <a:rPr lang="en-US" sz="2400"/>
              <a:t>Jika muncul opsi </a:t>
            </a:r>
            <a:r>
              <a:rPr lang="en-US">
                <a:latin typeface="Cascadia Mono Light" panose="020B0609020000020004" charset="0"/>
                <a:cs typeface="Cascadia Mono Light" panose="020B0609020000020004" charset="0"/>
              </a:rPr>
              <a:t>Proceed ([y]/n)? </a:t>
            </a:r>
            <a:r>
              <a:rPr lang="en-US" sz="2400">
                <a:latin typeface="Calibri" panose="020F0502020204030204" charset="0"/>
                <a:cs typeface="Calibri" panose="020F0502020204030204" charset="0"/>
              </a:rPr>
              <a:t>ketik</a:t>
            </a:r>
            <a:r>
              <a:rPr lang="en-US">
                <a:latin typeface="Cascadia Mono Light" panose="020B0609020000020004" charset="0"/>
                <a:cs typeface="Cascadia Mono Light" panose="020B0609020000020004" charset="0"/>
              </a:rPr>
              <a:t> y </a:t>
            </a:r>
            <a:r>
              <a:rPr lang="en-US" sz="2400">
                <a:latin typeface="Calibri" panose="020F0502020204030204" charset="0"/>
                <a:cs typeface="Calibri" panose="020F0502020204030204" charset="0"/>
              </a:rPr>
              <a:t>lalu tekan </a:t>
            </a:r>
            <a:r>
              <a:rPr lang="en-US" sz="2400" b="1">
                <a:latin typeface="Calibri" panose="020F0502020204030204" charset="0"/>
                <a:cs typeface="Calibri" panose="020F0502020204030204" charset="0"/>
              </a:rPr>
              <a:t>enter </a:t>
            </a:r>
            <a:r>
              <a:rPr lang="en-US" sz="2400">
                <a:latin typeface="Calibri" panose="020F0502020204030204" charset="0"/>
                <a:cs typeface="Calibri" panose="020F0502020204030204" charset="0"/>
              </a:rPr>
              <a:t>untuk melanjutkan</a:t>
            </a:r>
            <a:endParaRPr lang="en-US" sz="2400">
              <a:latin typeface="Calibri" panose="020F0502020204030204" charset="0"/>
              <a:cs typeface="Calibri" panose="020F0502020204030204" charset="0"/>
            </a:endParaRPr>
          </a:p>
        </p:txBody>
      </p:sp>
      <p:pic>
        <p:nvPicPr>
          <p:cNvPr id="7" name="Picture 6"/>
          <p:cNvPicPr>
            <a:picLocks noChangeAspect="1"/>
          </p:cNvPicPr>
          <p:nvPr/>
        </p:nvPicPr>
        <p:blipFill>
          <a:blip r:embed="rId2"/>
          <a:stretch>
            <a:fillRect/>
          </a:stretch>
        </p:blipFill>
        <p:spPr>
          <a:xfrm>
            <a:off x="694690" y="4772660"/>
            <a:ext cx="4152900" cy="625475"/>
          </a:xfrm>
          <a:prstGeom prst="rect">
            <a:avLst/>
          </a:prstGeom>
        </p:spPr>
      </p:pic>
      <p:sp>
        <p:nvSpPr>
          <p:cNvPr id="8" name="Text Box 7"/>
          <p:cNvSpPr txBox="1"/>
          <p:nvPr/>
        </p:nvSpPr>
        <p:spPr>
          <a:xfrm>
            <a:off x="326390" y="3806825"/>
            <a:ext cx="11865610" cy="829945"/>
          </a:xfrm>
          <a:prstGeom prst="rect">
            <a:avLst/>
          </a:prstGeom>
          <a:noFill/>
        </p:spPr>
        <p:txBody>
          <a:bodyPr wrap="square" rtlCol="0">
            <a:spAutoFit/>
          </a:bodyPr>
          <a:p>
            <a:pPr marL="342900" indent="-342900">
              <a:buFont typeface="Arial" panose="020B0604020202020204" pitchFamily="34" charset="0"/>
              <a:buChar char="•"/>
            </a:pPr>
            <a:r>
              <a:rPr lang="en-US" sz="2400"/>
              <a:t>Jika proses selesai, jalankan perintah, </a:t>
            </a:r>
            <a:r>
              <a:rPr lang="en-US">
                <a:latin typeface="Cascadia Mono Light" panose="020B0609020000020004" charset="0"/>
                <a:cs typeface="Cascadia Mono Light" panose="020B0609020000020004" charset="0"/>
                <a:sym typeface="+mn-ea"/>
              </a:rPr>
              <a:t>conda activate BelajarOpenCV </a:t>
            </a:r>
            <a:r>
              <a:rPr lang="en-US" sz="2400">
                <a:latin typeface="Calibri" panose="020F0502020204030204" charset="0"/>
                <a:cs typeface="Calibri" panose="020F0502020204030204" charset="0"/>
                <a:sym typeface="+mn-ea"/>
              </a:rPr>
              <a:t>untuk masuk ke environment tersebut</a:t>
            </a:r>
            <a:endParaRPr lang="en-US" sz="2400">
              <a:latin typeface="Calibri" panose="020F0502020204030204" charset="0"/>
              <a:cs typeface="Calibri" panose="020F0502020204030204" charset="0"/>
              <a:sym typeface="+mn-ea"/>
            </a:endParaRPr>
          </a:p>
        </p:txBody>
      </p:sp>
      <p:sp>
        <p:nvSpPr>
          <p:cNvPr id="9" name="Text Box 8"/>
          <p:cNvSpPr txBox="1"/>
          <p:nvPr/>
        </p:nvSpPr>
        <p:spPr>
          <a:xfrm>
            <a:off x="270510" y="5770245"/>
            <a:ext cx="11787505" cy="1014730"/>
          </a:xfrm>
          <a:prstGeom prst="rect">
            <a:avLst/>
          </a:prstGeom>
          <a:noFill/>
        </p:spPr>
        <p:txBody>
          <a:bodyPr wrap="square" rtlCol="0">
            <a:spAutoFit/>
          </a:bodyPr>
          <a:p>
            <a:pPr marL="342900" indent="-342900">
              <a:buFont typeface="Arial" panose="020B0604020202020204" pitchFamily="34" charset="0"/>
              <a:buChar char="•"/>
            </a:pPr>
            <a:r>
              <a:rPr lang="en-US" sz="2000">
                <a:solidFill>
                  <a:srgbClr val="8B8D08"/>
                </a:solidFill>
              </a:rPr>
              <a:t>Konsep conda environment ini sama seperti konsep pyenv, yang gunanya untuk mengisolasi versi python dan library didalamnya dalam satu komputer yang nantinya memungkinkan kita ngeinstal banyak environment dengan ragam versi python dan versi library tanpa saling mengganggu satu sama lain.</a:t>
            </a:r>
            <a:endParaRPr lang="en-US" sz="2000">
              <a:solidFill>
                <a:srgbClr val="8B8D08"/>
              </a:solidFill>
              <a:latin typeface="Calibri" panose="020F0502020204030204" charset="0"/>
              <a:cs typeface="Calibri" panose="020F0502020204030204" charset="0"/>
              <a:sym typeface="+mn-ea"/>
            </a:endParaRPr>
          </a:p>
        </p:txBody>
      </p:sp>
      <p:sp>
        <p:nvSpPr>
          <p:cNvPr id="3" name="Rectangles 2"/>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0" name="Title 1"/>
          <p:cNvSpPr>
            <a:spLocks noGrp="1"/>
          </p:cNvSpPr>
          <p:nvPr/>
        </p:nvSpPr>
        <p:spPr>
          <a:xfrm>
            <a:off x="403860" y="0"/>
            <a:ext cx="10515600" cy="975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8B8D08"/>
                </a:solidFill>
                <a:sym typeface="+mn-ea"/>
              </a:rPr>
              <a:t>Membuat Python Environment</a:t>
            </a:r>
            <a:endParaRPr lang="en-US" b="1">
              <a:solidFill>
                <a:srgbClr val="8B8D08"/>
              </a:solidFill>
              <a:sym typeface="+mn-ea"/>
            </a:endParaRPr>
          </a:p>
        </p:txBody>
      </p:sp>
      <p:sp>
        <p:nvSpPr>
          <p:cNvPr id="12" name="Text Box 11"/>
          <p:cNvSpPr txBox="1"/>
          <p:nvPr/>
        </p:nvSpPr>
        <p:spPr>
          <a:xfrm>
            <a:off x="660400" y="1663700"/>
            <a:ext cx="11546840" cy="368300"/>
          </a:xfrm>
          <a:prstGeom prst="rect">
            <a:avLst/>
          </a:prstGeom>
          <a:noFill/>
        </p:spPr>
        <p:txBody>
          <a:bodyPr wrap="square" rtlCol="0">
            <a:spAutoFit/>
          </a:bodyPr>
          <a:p>
            <a:pPr indent="0">
              <a:buFont typeface="Arial" panose="020B0604020202020204" pitchFamily="34" charset="0"/>
              <a:buNone/>
            </a:pPr>
            <a:r>
              <a:rPr lang="en-US">
                <a:latin typeface="Cascadia Mono Light" panose="020B0609020000020004" charset="0"/>
                <a:cs typeface="Cascadia Mono Light" panose="020B0609020000020004" charset="0"/>
              </a:rPr>
              <a:t>conda create --name BelajarOpenCV python=3.10</a:t>
            </a:r>
            <a:endParaRPr lang="en-US">
              <a:latin typeface="Cascadia Mono Light" panose="020B0609020000020004" charset="0"/>
              <a:cs typeface="Cascadia Mono Light" panose="020B06090200000200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5" name="Rectangles 14"/>
          <p:cNvSpPr/>
          <p:nvPr/>
        </p:nvSpPr>
        <p:spPr>
          <a:xfrm>
            <a:off x="0" y="803910"/>
            <a:ext cx="12207240" cy="605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 name="Text Box 5"/>
          <p:cNvSpPr txBox="1"/>
          <p:nvPr/>
        </p:nvSpPr>
        <p:spPr>
          <a:xfrm>
            <a:off x="270510" y="1078230"/>
            <a:ext cx="10915015" cy="2061210"/>
          </a:xfrm>
          <a:prstGeom prst="rect">
            <a:avLst/>
          </a:prstGeom>
          <a:noFill/>
        </p:spPr>
        <p:txBody>
          <a:bodyPr wrap="square" rtlCol="0">
            <a:spAutoFit/>
          </a:bodyPr>
          <a:p>
            <a:pPr marL="342900" indent="-342900">
              <a:buFont typeface="Arial" panose="020B0604020202020204" pitchFamily="34" charset="0"/>
              <a:buChar char="•"/>
            </a:pPr>
            <a:r>
              <a:rPr lang="en-US" sz="2000"/>
              <a:t>Buka Anaconda Prompt , lalu jalankan tiga perintah berikut,</a:t>
            </a:r>
            <a:endParaRPr lang="en-US" sz="2000"/>
          </a:p>
          <a:p>
            <a:br>
              <a:rPr lang="en-US" sz="1600">
                <a:latin typeface="Cascadia Mono Light" panose="020B0609020000020004" charset="0"/>
                <a:cs typeface="Cascadia Mono Light" panose="020B0609020000020004" charset="0"/>
              </a:rPr>
            </a:br>
            <a:r>
              <a:rPr lang="en-US" sz="1600">
                <a:latin typeface="Cascadia Mono Light" panose="020B0609020000020004" charset="0"/>
                <a:cs typeface="Cascadia Mono Light" panose="020B0609020000020004" charset="0"/>
              </a:rPr>
              <a:t>conda config --set ssl_verify no</a:t>
            </a:r>
            <a:endParaRPr lang="en-US" sz="1600">
              <a:latin typeface="Cascadia Mono Light" panose="020B0609020000020004" charset="0"/>
              <a:cs typeface="Cascadia Mono Light" panose="020B0609020000020004" charset="0"/>
            </a:endParaRPr>
          </a:p>
          <a:p>
            <a:endParaRPr lang="en-US" sz="1600">
              <a:latin typeface="Cascadia Mono Light" panose="020B0609020000020004" charset="0"/>
              <a:cs typeface="Cascadia Mono Light" panose="020B0609020000020004" charset="0"/>
            </a:endParaRPr>
          </a:p>
          <a:p>
            <a:r>
              <a:rPr lang="en-US" sz="1600">
                <a:latin typeface="Cascadia Mono Light" panose="020B0609020000020004" charset="0"/>
                <a:cs typeface="Cascadia Mono Light" panose="020B0609020000020004" charset="0"/>
              </a:rPr>
              <a:t>pip install ipykernel</a:t>
            </a:r>
            <a:endParaRPr lang="en-US" sz="1600">
              <a:latin typeface="Cascadia Mono Light" panose="020B0609020000020004" charset="0"/>
              <a:cs typeface="Cascadia Mono Light" panose="020B0609020000020004" charset="0"/>
            </a:endParaRPr>
          </a:p>
          <a:p>
            <a:r>
              <a:rPr lang="en-US" sz="1600">
                <a:latin typeface="Cascadia Mono Light" panose="020B0609020000020004" charset="0"/>
                <a:cs typeface="Cascadia Mono Light" panose="020B0609020000020004" charset="0"/>
              </a:rPr>
              <a:t> </a:t>
            </a:r>
            <a:br>
              <a:rPr lang="en-US" sz="1600">
                <a:latin typeface="Cascadia Mono Light" panose="020B0609020000020004" charset="0"/>
                <a:cs typeface="Cascadia Mono Light" panose="020B0609020000020004" charset="0"/>
              </a:rPr>
            </a:br>
            <a:r>
              <a:rPr lang="en-US" sz="1400">
                <a:latin typeface="Cascadia Mono Light" panose="020B0609020000020004" charset="0"/>
                <a:cs typeface="Cascadia Mono Light" panose="020B0609020000020004" charset="0"/>
              </a:rPr>
              <a:t>pip install --default-timeout=300 -r </a:t>
            </a:r>
            <a:r>
              <a:rPr lang="en-US" altLang="en-US" sz="1400">
                <a:latin typeface="Cascadia Mono Light" panose="020B0609020000020004" charset="0"/>
                <a:cs typeface="Cascadia Mono Light" panose="020B0609020000020004" charset="0"/>
              </a:rPr>
              <a:t>https://raw.githubusercontent.com/Muhammad-Yunus/Telkomsat-Kursus-CV-And-OD/refs/heads/main/Kursus%20Computer%20Vision/requirements.txt</a:t>
            </a:r>
            <a:endParaRPr lang="en-US" altLang="en-US" sz="1400">
              <a:latin typeface="Cascadia Mono Light" panose="020B0609020000020004" charset="0"/>
              <a:cs typeface="Cascadia Mono Light" panose="020B0609020000020004" charset="0"/>
            </a:endParaRPr>
          </a:p>
        </p:txBody>
      </p:sp>
      <p:pic>
        <p:nvPicPr>
          <p:cNvPr id="10" name="Content Placeholder 9"/>
          <p:cNvPicPr>
            <a:picLocks noChangeAspect="1"/>
          </p:cNvPicPr>
          <p:nvPr>
            <p:ph idx="1"/>
          </p:nvPr>
        </p:nvPicPr>
        <p:blipFill>
          <a:blip r:embed="rId1"/>
          <a:srcRect t="6601" b="42202"/>
          <a:stretch>
            <a:fillRect/>
          </a:stretch>
        </p:blipFill>
        <p:spPr>
          <a:xfrm>
            <a:off x="397510" y="3637280"/>
            <a:ext cx="8699500" cy="1883410"/>
          </a:xfrm>
          <a:prstGeom prst="rect">
            <a:avLst/>
          </a:prstGeom>
        </p:spPr>
      </p:pic>
      <p:sp>
        <p:nvSpPr>
          <p:cNvPr id="11" name="Text Box 10"/>
          <p:cNvSpPr txBox="1"/>
          <p:nvPr/>
        </p:nvSpPr>
        <p:spPr>
          <a:xfrm>
            <a:off x="397510" y="5961380"/>
            <a:ext cx="10044430" cy="706755"/>
          </a:xfrm>
          <a:prstGeom prst="rect">
            <a:avLst/>
          </a:prstGeom>
          <a:noFill/>
        </p:spPr>
        <p:txBody>
          <a:bodyPr wrap="square" rtlCol="0">
            <a:spAutoFit/>
          </a:bodyPr>
          <a:p>
            <a:pPr marL="342900" indent="-342900">
              <a:buFont typeface="Arial" panose="020B0604020202020204" pitchFamily="34" charset="0"/>
              <a:buChar char="•"/>
            </a:pPr>
            <a:r>
              <a:rPr lang="en-US" sz="2000"/>
              <a:t>Pada file requirements.txt diatas sudah terdapat list library yang kita butuhkan untuk proses pembelajaran</a:t>
            </a:r>
            <a:endParaRPr lang="en-US" sz="1600">
              <a:latin typeface="Cascadia Mono Light" panose="020B0609020000020004" charset="0"/>
              <a:cs typeface="Cascadia Mono Light" panose="020B0609020000020004" charset="0"/>
            </a:endParaRPr>
          </a:p>
        </p:txBody>
      </p:sp>
      <p:sp>
        <p:nvSpPr>
          <p:cNvPr id="4" name="Rectangles 3"/>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5" name="Title 1"/>
          <p:cNvSpPr>
            <a:spLocks noGrp="1"/>
          </p:cNvSpPr>
          <p:nvPr/>
        </p:nvSpPr>
        <p:spPr>
          <a:xfrm>
            <a:off x="403860" y="0"/>
            <a:ext cx="10515600" cy="975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8B8D08"/>
                </a:solidFill>
                <a:sym typeface="+mn-ea"/>
              </a:rPr>
              <a:t>Install Python Package</a:t>
            </a:r>
            <a:endParaRPr lang="en-US" b="1">
              <a:solidFill>
                <a:srgbClr val="8B8D08"/>
              </a:solidFill>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5" name="Rectangles 14"/>
          <p:cNvSpPr/>
          <p:nvPr/>
        </p:nvSpPr>
        <p:spPr>
          <a:xfrm>
            <a:off x="0" y="803910"/>
            <a:ext cx="12207240" cy="605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 name="Text Box 5"/>
          <p:cNvSpPr txBox="1"/>
          <p:nvPr/>
        </p:nvSpPr>
        <p:spPr>
          <a:xfrm>
            <a:off x="270510" y="1186815"/>
            <a:ext cx="11920855" cy="2306955"/>
          </a:xfrm>
          <a:prstGeom prst="rect">
            <a:avLst/>
          </a:prstGeom>
          <a:noFill/>
        </p:spPr>
        <p:txBody>
          <a:bodyPr wrap="square" rtlCol="0">
            <a:spAutoFit/>
          </a:bodyPr>
          <a:p>
            <a:pPr marL="342900" indent="-342900">
              <a:buFont typeface="Arial" panose="020B0604020202020204" pitchFamily="34" charset="0"/>
              <a:buChar char="•"/>
            </a:pPr>
            <a:r>
              <a:rPr lang="en-US" sz="2400"/>
              <a:t>Visual Studio Code adalah code editor serbaguna yang sangat populer dikalangan developer. Kita akan mendevelop aplikasi OpenCV menggunakan Visual Studio Code yang terhubung ke Conda Evironment </a:t>
            </a:r>
            <a:r>
              <a:rPr lang="en-US" sz="2400" b="1"/>
              <a:t>BelajarOpenCV</a:t>
            </a:r>
            <a:r>
              <a:rPr lang="en-US" sz="2400"/>
              <a:t> yang sudah kita buat sebelumnya.</a:t>
            </a:r>
            <a:endParaRPr lang="en-US" sz="2400"/>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r>
              <a:rPr lang="en-US" sz="2400"/>
              <a:t>Download dan install Visual Studio Code dari URL berikut </a:t>
            </a:r>
            <a:r>
              <a:rPr lang="en-US" sz="2400">
                <a:hlinkClick r:id="rId1" action="ppaction://hlinkfile"/>
              </a:rPr>
              <a:t>https://code.visualstudio.com/download</a:t>
            </a:r>
            <a:r>
              <a:rPr lang="en-US" sz="2400"/>
              <a:t> </a:t>
            </a:r>
            <a:endParaRPr lang="en-US" sz="2400">
              <a:latin typeface="Cascadia Mono Light" panose="020B0609020000020004" charset="0"/>
              <a:cs typeface="Cascadia Mono Light" panose="020B0609020000020004" charset="0"/>
            </a:endParaRPr>
          </a:p>
        </p:txBody>
      </p:sp>
      <p:pic>
        <p:nvPicPr>
          <p:cNvPr id="3" name="Content Placeholder 2"/>
          <p:cNvPicPr>
            <a:picLocks noChangeAspect="1"/>
          </p:cNvPicPr>
          <p:nvPr>
            <p:ph idx="1"/>
          </p:nvPr>
        </p:nvPicPr>
        <p:blipFill>
          <a:blip r:embed="rId2"/>
          <a:srcRect b="9938"/>
          <a:stretch>
            <a:fillRect/>
          </a:stretch>
        </p:blipFill>
        <p:spPr>
          <a:xfrm>
            <a:off x="662305" y="3612515"/>
            <a:ext cx="6837045" cy="3245485"/>
          </a:xfrm>
          <a:prstGeom prst="rect">
            <a:avLst/>
          </a:prstGeom>
        </p:spPr>
      </p:pic>
      <p:sp>
        <p:nvSpPr>
          <p:cNvPr id="5" name="Rectangles 4"/>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itle 1"/>
          <p:cNvSpPr>
            <a:spLocks noGrp="1"/>
          </p:cNvSpPr>
          <p:nvPr/>
        </p:nvSpPr>
        <p:spPr>
          <a:xfrm>
            <a:off x="403860" y="0"/>
            <a:ext cx="10515600" cy="975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8B8D08"/>
                </a:solidFill>
                <a:sym typeface="+mn-ea"/>
              </a:rPr>
              <a:t>Download &amp; Install Visual Studio Code</a:t>
            </a:r>
            <a:endParaRPr lang="en-US" b="1">
              <a:solidFill>
                <a:srgbClr val="8B8D08"/>
              </a:solidFill>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Title 1"/>
          <p:cNvSpPr>
            <a:spLocks noGrp="1"/>
          </p:cNvSpPr>
          <p:nvPr>
            <p:ph type="title"/>
          </p:nvPr>
        </p:nvSpPr>
        <p:spPr>
          <a:xfrm>
            <a:off x="270510" y="170180"/>
            <a:ext cx="10515600" cy="633730"/>
          </a:xfrm>
        </p:spPr>
        <p:txBody>
          <a:bodyPr>
            <a:normAutofit fontScale="90000"/>
          </a:bodyPr>
          <a:p>
            <a:r>
              <a:rPr lang="en-US">
                <a:solidFill>
                  <a:schemeClr val="bg1"/>
                </a:solidFill>
                <a:sym typeface="+mn-ea"/>
              </a:rPr>
              <a:t>Jupyter Notebook di VS Code</a:t>
            </a:r>
            <a:endParaRPr lang="en-US">
              <a:solidFill>
                <a:schemeClr val="bg1"/>
              </a:solidFill>
            </a:endParaRPr>
          </a:p>
        </p:txBody>
      </p:sp>
      <p:sp>
        <p:nvSpPr>
          <p:cNvPr id="6" name="Text Box 5"/>
          <p:cNvSpPr txBox="1"/>
          <p:nvPr/>
        </p:nvSpPr>
        <p:spPr>
          <a:xfrm>
            <a:off x="270510" y="1099820"/>
            <a:ext cx="11783060" cy="2880995"/>
          </a:xfrm>
          <a:prstGeom prst="rect">
            <a:avLst/>
          </a:prstGeom>
          <a:noFill/>
        </p:spPr>
        <p:txBody>
          <a:bodyPr wrap="square" rtlCol="0">
            <a:noAutofit/>
          </a:bodyPr>
          <a:p>
            <a:pPr marL="342900" indent="-342900">
              <a:buFont typeface="Arial" panose="020B0604020202020204" pitchFamily="34" charset="0"/>
              <a:buChar char="•"/>
            </a:pPr>
            <a:r>
              <a:rPr lang="en-US" sz="2400"/>
              <a:t>Jupyter Notebook adalah sistem yang memungkinkan kita </a:t>
            </a:r>
            <a:r>
              <a:rPr lang="en-US" sz="2400" b="1"/>
              <a:t>menjalankan kode Python dan Markdown dalam satu lingkungan</a:t>
            </a:r>
            <a:r>
              <a:rPr lang="en-US" sz="2400"/>
              <a:t>. </a:t>
            </a:r>
            <a:endParaRPr lang="en-US" sz="2400"/>
          </a:p>
          <a:p>
            <a:pPr marL="342900" indent="-342900">
              <a:buFont typeface="Arial" panose="020B0604020202020204" pitchFamily="34" charset="0"/>
              <a:buChar char="•"/>
            </a:pPr>
            <a:r>
              <a:rPr lang="en-US" sz="2400"/>
              <a:t>VS Code dapat terintegrasi langsung dengan Jupyter Notebook Melalui </a:t>
            </a:r>
            <a:r>
              <a:rPr lang="en-US" sz="2400" b="1"/>
              <a:t>Jupyter Extension,</a:t>
            </a:r>
            <a:endParaRPr lang="en-US" sz="2400"/>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r>
              <a:rPr lang="en-US" sz="2400"/>
              <a:t>Pilih menu </a:t>
            </a:r>
            <a:r>
              <a:rPr lang="en-US" sz="2400" b="1"/>
              <a:t>Extension</a:t>
            </a:r>
            <a:r>
              <a:rPr lang="en-US" sz="2400"/>
              <a:t>, lalu cari ‘</a:t>
            </a:r>
            <a:r>
              <a:rPr lang="en-US" sz="2400" b="1"/>
              <a:t>Jupyter’ </a:t>
            </a:r>
            <a:r>
              <a:rPr lang="en-US" sz="2400"/>
              <a:t>pada Extension Marketplace, klik untuk melihat detailnya, setelah itu klik install. </a:t>
            </a:r>
            <a:r>
              <a:rPr lang="en-US" sz="2400" i="1">
                <a:solidFill>
                  <a:srgbClr val="8B8D08"/>
                </a:solidFill>
              </a:rPr>
              <a:t>Pada screenshot berikut, tidak terlihat tombol instal, karena saya sudah menginstall sebelumnya.</a:t>
            </a:r>
            <a:endParaRPr lang="en-US" sz="2400" i="1">
              <a:solidFill>
                <a:srgbClr val="8B8D08"/>
              </a:solidFill>
            </a:endParaRPr>
          </a:p>
          <a:p>
            <a:pPr marL="342900" indent="-342900">
              <a:buFont typeface="Arial" panose="020B0604020202020204" pitchFamily="34" charset="0"/>
              <a:buChar char="•"/>
            </a:pPr>
            <a:endParaRPr lang="en-US" sz="2400" i="1">
              <a:solidFill>
                <a:srgbClr val="8B8D08"/>
              </a:solidFill>
              <a:latin typeface="Cascadia Mono Light" panose="020B0609020000020004" charset="0"/>
              <a:cs typeface="Cascadia Mono Light" panose="020B0609020000020004" charset="0"/>
            </a:endParaRPr>
          </a:p>
        </p:txBody>
      </p:sp>
      <p:pic>
        <p:nvPicPr>
          <p:cNvPr id="5" name="Content Placeholder 4"/>
          <p:cNvPicPr>
            <a:picLocks noChangeAspect="1"/>
          </p:cNvPicPr>
          <p:nvPr>
            <p:ph idx="1"/>
          </p:nvPr>
        </p:nvPicPr>
        <p:blipFill>
          <a:blip r:embed="rId1"/>
          <a:srcRect t="11824" b="8490"/>
          <a:stretch>
            <a:fillRect/>
          </a:stretch>
        </p:blipFill>
        <p:spPr>
          <a:xfrm>
            <a:off x="594995" y="4194175"/>
            <a:ext cx="7731760" cy="2663825"/>
          </a:xfrm>
          <a:prstGeom prst="rect">
            <a:avLst/>
          </a:prstGeom>
        </p:spPr>
      </p:pic>
      <p:sp>
        <p:nvSpPr>
          <p:cNvPr id="8" name="Rectangles 7"/>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Title 1"/>
          <p:cNvSpPr>
            <a:spLocks noGrp="1"/>
          </p:cNvSpPr>
          <p:nvPr/>
        </p:nvSpPr>
        <p:spPr>
          <a:xfrm>
            <a:off x="403860" y="0"/>
            <a:ext cx="10515600" cy="975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8B8D08"/>
                </a:solidFill>
                <a:sym typeface="+mn-ea"/>
              </a:rPr>
              <a:t>Install Jupyter Notebook Extension di VS Code</a:t>
            </a:r>
            <a:endParaRPr lang="en-US" b="1">
              <a:solidFill>
                <a:srgbClr val="8B8D08"/>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6" name="Text Box 5"/>
          <p:cNvSpPr txBox="1"/>
          <p:nvPr/>
        </p:nvSpPr>
        <p:spPr>
          <a:xfrm>
            <a:off x="270510" y="1131570"/>
            <a:ext cx="11920855" cy="3957320"/>
          </a:xfrm>
          <a:prstGeom prst="rect">
            <a:avLst/>
          </a:prstGeom>
          <a:noFill/>
        </p:spPr>
        <p:txBody>
          <a:bodyPr wrap="square" rtlCol="0">
            <a:noAutofit/>
          </a:bodyPr>
          <a:p>
            <a:pPr marL="342900" indent="-342900">
              <a:buFont typeface="Arial" panose="020B0604020202020204" pitchFamily="34" charset="0"/>
              <a:buChar char="•"/>
            </a:pPr>
            <a:r>
              <a:rPr lang="en-US" sz="2400"/>
              <a:t>Selanjutnya kita akan membuat file Jupyter Notebook di VS Code </a:t>
            </a:r>
            <a:endParaRPr lang="en-US" sz="2400"/>
          </a:p>
          <a:p>
            <a:pPr marL="342900" indent="-342900">
              <a:buFont typeface="Arial" panose="020B0604020202020204" pitchFamily="34" charset="0"/>
              <a:buChar char="•"/>
            </a:pPr>
            <a:r>
              <a:rPr lang="en-US" sz="2400"/>
              <a:t>Buka VSCode lalu tekan </a:t>
            </a:r>
            <a:r>
              <a:rPr lang="en-US" sz="2400">
                <a:solidFill>
                  <a:srgbClr val="C00000"/>
                </a:solidFill>
              </a:rPr>
              <a:t>CTRL+SHIFT+P</a:t>
            </a:r>
            <a:endParaRPr lang="en-US" sz="2400"/>
          </a:p>
          <a:p>
            <a:pPr marL="342900" indent="-342900">
              <a:buFont typeface="Arial" panose="020B0604020202020204" pitchFamily="34" charset="0"/>
              <a:buChar char="•"/>
            </a:pPr>
            <a:r>
              <a:rPr lang="en-US" sz="2400"/>
              <a:t>Setelah itu ketik ‘</a:t>
            </a:r>
            <a:r>
              <a:rPr lang="en-US" sz="2400">
                <a:solidFill>
                  <a:srgbClr val="C00000"/>
                </a:solidFill>
              </a:rPr>
              <a:t>Jupyter’</a:t>
            </a:r>
            <a:r>
              <a:rPr lang="en-US" sz="2400"/>
              <a:t>, maka akan muncul daftar sebagai berikut,</a:t>
            </a:r>
            <a:endParaRPr lang="en-US" sz="2400"/>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r>
              <a:rPr lang="en-US" sz="2400"/>
              <a:t>Pilih ‘</a:t>
            </a:r>
            <a:r>
              <a:rPr lang="en-US" sz="2400">
                <a:solidFill>
                  <a:srgbClr val="C00000"/>
                </a:solidFill>
              </a:rPr>
              <a:t>Create: New Jupyter Notebook</a:t>
            </a:r>
            <a:r>
              <a:rPr lang="en-US" sz="2400"/>
              <a:t>’, maka akan ada file notebook sebagai berikut,</a:t>
            </a:r>
            <a:endParaRPr lang="en-US" sz="2400"/>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endParaRPr lang="en-US" sz="2400">
              <a:latin typeface="Cascadia Mono Light" panose="020B0609020000020004" charset="0"/>
              <a:cs typeface="Cascadia Mono Light" panose="020B0609020000020004" charset="0"/>
            </a:endParaRPr>
          </a:p>
        </p:txBody>
      </p:sp>
      <p:pic>
        <p:nvPicPr>
          <p:cNvPr id="5" name="Content Placeholder 4"/>
          <p:cNvPicPr>
            <a:picLocks noChangeAspect="1"/>
          </p:cNvPicPr>
          <p:nvPr>
            <p:ph idx="1"/>
          </p:nvPr>
        </p:nvPicPr>
        <p:blipFill>
          <a:blip r:embed="rId1"/>
          <a:srcRect b="40677"/>
          <a:stretch>
            <a:fillRect/>
          </a:stretch>
        </p:blipFill>
        <p:spPr>
          <a:xfrm>
            <a:off x="760730" y="2451735"/>
            <a:ext cx="7505700" cy="1503045"/>
          </a:xfrm>
          <a:prstGeom prst="rect">
            <a:avLst/>
          </a:prstGeom>
        </p:spPr>
      </p:pic>
      <p:pic>
        <p:nvPicPr>
          <p:cNvPr id="7" name="Picture 6"/>
          <p:cNvPicPr>
            <a:picLocks noChangeAspect="1"/>
          </p:cNvPicPr>
          <p:nvPr/>
        </p:nvPicPr>
        <p:blipFill>
          <a:blip r:embed="rId2"/>
          <a:srcRect b="52888"/>
          <a:stretch>
            <a:fillRect/>
          </a:stretch>
        </p:blipFill>
        <p:spPr>
          <a:xfrm>
            <a:off x="760730" y="4946015"/>
            <a:ext cx="11307445" cy="1911985"/>
          </a:xfrm>
          <a:prstGeom prst="rect">
            <a:avLst/>
          </a:prstGeom>
        </p:spPr>
      </p:pic>
      <p:sp>
        <p:nvSpPr>
          <p:cNvPr id="8" name="Rectangles 7"/>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9" name="Title 1"/>
          <p:cNvSpPr>
            <a:spLocks noGrp="1"/>
          </p:cNvSpPr>
          <p:nvPr/>
        </p:nvSpPr>
        <p:spPr>
          <a:xfrm>
            <a:off x="403860" y="0"/>
            <a:ext cx="10515600" cy="975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8B8D08"/>
                </a:solidFill>
                <a:sym typeface="+mn-ea"/>
              </a:rPr>
              <a:t>Cara Membuat Notebook File</a:t>
            </a:r>
            <a:endParaRPr lang="en-US" b="1">
              <a:solidFill>
                <a:srgbClr val="8B8D08"/>
              </a:solidFill>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6" name="Text Box 5"/>
          <p:cNvSpPr txBox="1"/>
          <p:nvPr/>
        </p:nvSpPr>
        <p:spPr>
          <a:xfrm>
            <a:off x="270510" y="1066800"/>
            <a:ext cx="11920855" cy="398780"/>
          </a:xfrm>
          <a:prstGeom prst="rect">
            <a:avLst/>
          </a:prstGeom>
          <a:noFill/>
        </p:spPr>
        <p:txBody>
          <a:bodyPr wrap="square" rtlCol="0">
            <a:spAutoFit/>
          </a:bodyPr>
          <a:p>
            <a:pPr marL="342900" indent="-342900">
              <a:buFont typeface="Arial" panose="020B0604020202020204" pitchFamily="34" charset="0"/>
              <a:buChar char="•"/>
            </a:pPr>
            <a:r>
              <a:rPr lang="en-US" sz="2000"/>
              <a:t>Pilih </a:t>
            </a:r>
            <a:r>
              <a:rPr lang="en-US" sz="2000">
                <a:solidFill>
                  <a:srgbClr val="C00000"/>
                </a:solidFill>
              </a:rPr>
              <a:t>Select Kernel</a:t>
            </a:r>
            <a:r>
              <a:rPr lang="en-US" sz="2000"/>
              <a:t> di pojok kanan atas pada File Jupyter Notebook yang sebelumnya dibuat</a:t>
            </a:r>
            <a:endParaRPr lang="en-US" sz="1600">
              <a:latin typeface="Cascadia Mono Light" panose="020B0609020000020004" charset="0"/>
              <a:cs typeface="Cascadia Mono Light" panose="020B0609020000020004" charset="0"/>
            </a:endParaRPr>
          </a:p>
        </p:txBody>
      </p:sp>
      <p:pic>
        <p:nvPicPr>
          <p:cNvPr id="4" name="Content Placeholder 3"/>
          <p:cNvPicPr>
            <a:picLocks noChangeAspect="1"/>
          </p:cNvPicPr>
          <p:nvPr>
            <p:ph idx="1"/>
          </p:nvPr>
        </p:nvPicPr>
        <p:blipFill>
          <a:blip r:embed="rId1"/>
          <a:srcRect t="20641" b="34865"/>
          <a:stretch>
            <a:fillRect/>
          </a:stretch>
        </p:blipFill>
        <p:spPr>
          <a:xfrm>
            <a:off x="713740" y="1465580"/>
            <a:ext cx="6087745" cy="789305"/>
          </a:xfrm>
          <a:prstGeom prst="rect">
            <a:avLst/>
          </a:prstGeom>
        </p:spPr>
      </p:pic>
      <p:pic>
        <p:nvPicPr>
          <p:cNvPr id="8" name="Picture 7"/>
          <p:cNvPicPr>
            <a:picLocks noChangeAspect="1"/>
          </p:cNvPicPr>
          <p:nvPr>
            <p:custDataLst>
              <p:tags r:id="rId2"/>
            </p:custDataLst>
          </p:nvPr>
        </p:nvPicPr>
        <p:blipFill>
          <a:blip r:embed="rId3"/>
          <a:srcRect b="11172"/>
          <a:stretch>
            <a:fillRect/>
          </a:stretch>
        </p:blipFill>
        <p:spPr>
          <a:xfrm>
            <a:off x="713740" y="2670810"/>
            <a:ext cx="4612005" cy="918845"/>
          </a:xfrm>
          <a:prstGeom prst="rect">
            <a:avLst/>
          </a:prstGeom>
        </p:spPr>
      </p:pic>
      <p:pic>
        <p:nvPicPr>
          <p:cNvPr id="9" name="Picture 8"/>
          <p:cNvPicPr>
            <a:picLocks noChangeAspect="1"/>
          </p:cNvPicPr>
          <p:nvPr>
            <p:custDataLst>
              <p:tags r:id="rId4"/>
            </p:custDataLst>
          </p:nvPr>
        </p:nvPicPr>
        <p:blipFill>
          <a:blip r:embed="rId5"/>
          <a:srcRect b="17742"/>
          <a:stretch>
            <a:fillRect/>
          </a:stretch>
        </p:blipFill>
        <p:spPr>
          <a:xfrm>
            <a:off x="713740" y="3987800"/>
            <a:ext cx="4612005" cy="1003935"/>
          </a:xfrm>
          <a:prstGeom prst="rect">
            <a:avLst/>
          </a:prstGeom>
        </p:spPr>
      </p:pic>
      <p:pic>
        <p:nvPicPr>
          <p:cNvPr id="10" name="Picture 9"/>
          <p:cNvPicPr>
            <a:picLocks noChangeAspect="1"/>
          </p:cNvPicPr>
          <p:nvPr>
            <p:custDataLst>
              <p:tags r:id="rId6"/>
            </p:custDataLst>
          </p:nvPr>
        </p:nvPicPr>
        <p:blipFill>
          <a:blip r:embed="rId7"/>
          <a:stretch>
            <a:fillRect/>
          </a:stretch>
        </p:blipFill>
        <p:spPr>
          <a:xfrm>
            <a:off x="713740" y="5412105"/>
            <a:ext cx="4612005" cy="1407795"/>
          </a:xfrm>
          <a:prstGeom prst="rect">
            <a:avLst/>
          </a:prstGeom>
        </p:spPr>
      </p:pic>
      <p:sp>
        <p:nvSpPr>
          <p:cNvPr id="11" name="Text Box 10"/>
          <p:cNvSpPr txBox="1"/>
          <p:nvPr>
            <p:custDataLst>
              <p:tags r:id="rId8"/>
            </p:custDataLst>
          </p:nvPr>
        </p:nvSpPr>
        <p:spPr>
          <a:xfrm>
            <a:off x="260985" y="2264410"/>
            <a:ext cx="11920855" cy="398780"/>
          </a:xfrm>
          <a:prstGeom prst="rect">
            <a:avLst/>
          </a:prstGeom>
          <a:noFill/>
        </p:spPr>
        <p:txBody>
          <a:bodyPr wrap="square" rtlCol="0">
            <a:spAutoFit/>
          </a:bodyPr>
          <a:p>
            <a:pPr marL="342900" indent="-342900">
              <a:buFont typeface="Arial" panose="020B0604020202020204" pitchFamily="34" charset="0"/>
              <a:buChar char="•"/>
            </a:pPr>
            <a:r>
              <a:rPr lang="en-US" sz="2000"/>
              <a:t>Pilih ‘</a:t>
            </a:r>
            <a:r>
              <a:rPr lang="en-US" sz="2000">
                <a:solidFill>
                  <a:srgbClr val="C00000"/>
                </a:solidFill>
              </a:rPr>
              <a:t>Select Another Kernel</a:t>
            </a:r>
            <a:r>
              <a:rPr lang="en-US" sz="2000"/>
              <a:t>’</a:t>
            </a:r>
            <a:endParaRPr lang="en-US" sz="1600">
              <a:latin typeface="Cascadia Mono Light" panose="020B0609020000020004" charset="0"/>
              <a:cs typeface="Cascadia Mono Light" panose="020B0609020000020004" charset="0"/>
            </a:endParaRPr>
          </a:p>
        </p:txBody>
      </p:sp>
      <p:sp>
        <p:nvSpPr>
          <p:cNvPr id="12" name="Text Box 11"/>
          <p:cNvSpPr txBox="1"/>
          <p:nvPr>
            <p:custDataLst>
              <p:tags r:id="rId9"/>
            </p:custDataLst>
          </p:nvPr>
        </p:nvSpPr>
        <p:spPr>
          <a:xfrm>
            <a:off x="260350" y="3599180"/>
            <a:ext cx="11920855" cy="398780"/>
          </a:xfrm>
          <a:prstGeom prst="rect">
            <a:avLst/>
          </a:prstGeom>
          <a:noFill/>
        </p:spPr>
        <p:txBody>
          <a:bodyPr wrap="square" rtlCol="0">
            <a:spAutoFit/>
          </a:bodyPr>
          <a:p>
            <a:pPr marL="342900" indent="-342900">
              <a:buFont typeface="Arial" panose="020B0604020202020204" pitchFamily="34" charset="0"/>
              <a:buChar char="•"/>
            </a:pPr>
            <a:r>
              <a:rPr lang="en-US" sz="2000"/>
              <a:t>Pilih </a:t>
            </a:r>
            <a:r>
              <a:rPr lang="en-US" sz="2000">
                <a:solidFill>
                  <a:srgbClr val="C00000"/>
                </a:solidFill>
              </a:rPr>
              <a:t>Python Environment</a:t>
            </a:r>
            <a:endParaRPr lang="en-US" sz="2000">
              <a:solidFill>
                <a:srgbClr val="C00000"/>
              </a:solidFill>
              <a:latin typeface="Cascadia Mono Light" panose="020B0609020000020004" charset="0"/>
              <a:cs typeface="Cascadia Mono Light" panose="020B0609020000020004" charset="0"/>
            </a:endParaRPr>
          </a:p>
        </p:txBody>
      </p:sp>
      <p:sp>
        <p:nvSpPr>
          <p:cNvPr id="13" name="Text Box 12"/>
          <p:cNvSpPr txBox="1"/>
          <p:nvPr>
            <p:custDataLst>
              <p:tags r:id="rId10"/>
            </p:custDataLst>
          </p:nvPr>
        </p:nvSpPr>
        <p:spPr>
          <a:xfrm>
            <a:off x="262890" y="5002530"/>
            <a:ext cx="11920855" cy="398780"/>
          </a:xfrm>
          <a:prstGeom prst="rect">
            <a:avLst/>
          </a:prstGeom>
          <a:noFill/>
        </p:spPr>
        <p:txBody>
          <a:bodyPr wrap="square" rtlCol="0">
            <a:spAutoFit/>
          </a:bodyPr>
          <a:p>
            <a:pPr marL="342900" indent="-342900">
              <a:buFont typeface="Arial" panose="020B0604020202020204" pitchFamily="34" charset="0"/>
              <a:buChar char="•"/>
            </a:pPr>
            <a:r>
              <a:rPr lang="en-US" sz="2000"/>
              <a:t>Pilih ‘</a:t>
            </a:r>
            <a:r>
              <a:rPr lang="en-US" sz="2000">
                <a:solidFill>
                  <a:srgbClr val="C00000"/>
                </a:solidFill>
              </a:rPr>
              <a:t>BelajarOpenCV</a:t>
            </a:r>
            <a:r>
              <a:rPr lang="en-US" sz="2000"/>
              <a:t>’ Environment</a:t>
            </a:r>
            <a:endParaRPr lang="en-US" sz="1600">
              <a:latin typeface="Cascadia Mono Light" panose="020B0609020000020004" charset="0"/>
              <a:cs typeface="Cascadia Mono Light" panose="020B0609020000020004" charset="0"/>
            </a:endParaRPr>
          </a:p>
        </p:txBody>
      </p:sp>
      <p:sp>
        <p:nvSpPr>
          <p:cNvPr id="5" name="Rectangles 4"/>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itle 1"/>
          <p:cNvSpPr>
            <a:spLocks noGrp="1"/>
          </p:cNvSpPr>
          <p:nvPr/>
        </p:nvSpPr>
        <p:spPr>
          <a:xfrm>
            <a:off x="403860" y="0"/>
            <a:ext cx="11786870" cy="975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8B8D08"/>
                </a:solidFill>
                <a:sym typeface="+mn-ea"/>
              </a:rPr>
              <a:t>Menghubungkan Notebook Ke Conda Environment</a:t>
            </a:r>
            <a:endParaRPr lang="en-US" b="1">
              <a:solidFill>
                <a:srgbClr val="8B8D08"/>
              </a:solidFill>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15" name="Rectangles 14"/>
          <p:cNvSpPr/>
          <p:nvPr/>
        </p:nvSpPr>
        <p:spPr>
          <a:xfrm>
            <a:off x="0" y="803910"/>
            <a:ext cx="12207240" cy="605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 name="Text Box 5"/>
          <p:cNvSpPr txBox="1"/>
          <p:nvPr/>
        </p:nvSpPr>
        <p:spPr>
          <a:xfrm>
            <a:off x="270510" y="1215390"/>
            <a:ext cx="11920855" cy="5015865"/>
          </a:xfrm>
          <a:prstGeom prst="rect">
            <a:avLst/>
          </a:prstGeom>
          <a:noFill/>
        </p:spPr>
        <p:txBody>
          <a:bodyPr wrap="square" rtlCol="0">
            <a:spAutoFit/>
          </a:bodyPr>
          <a:p>
            <a:pPr marL="342900" indent="-342900">
              <a:buFont typeface="Arial" panose="020B0604020202020204" pitchFamily="34" charset="0"/>
              <a:buChar char="•"/>
            </a:pPr>
            <a:r>
              <a:rPr lang="en-US" sz="2000"/>
              <a:t>Selanjutnya kita bisa lihat pada pojok kanan atas, file Notebook yang kita miliki sudah terhubung pada Environment </a:t>
            </a:r>
            <a:r>
              <a:rPr lang="en-US" sz="2000" b="1"/>
              <a:t>BelajarOpenCV </a:t>
            </a:r>
            <a:endParaRPr lang="en-US" sz="2000" b="1"/>
          </a:p>
          <a:p>
            <a:pPr marL="342900" indent="-342900">
              <a:buFont typeface="Arial" panose="020B0604020202020204" pitchFamily="34" charset="0"/>
              <a:buChar char="•"/>
            </a:pPr>
            <a:endParaRPr lang="en-US" sz="2000"/>
          </a:p>
          <a:p>
            <a:pPr marL="342900" indent="-342900">
              <a:buFont typeface="Arial" panose="020B0604020202020204" pitchFamily="34" charset="0"/>
              <a:buChar char="•"/>
            </a:pPr>
            <a:endParaRPr lang="en-US" sz="2000"/>
          </a:p>
          <a:p>
            <a:pPr marL="342900" indent="-342900">
              <a:buFont typeface="Arial" panose="020B0604020202020204" pitchFamily="34" charset="0"/>
              <a:buChar char="•"/>
            </a:pPr>
            <a:endParaRPr lang="en-US" sz="2000"/>
          </a:p>
          <a:p>
            <a:pPr marL="342900" indent="-342900">
              <a:buFont typeface="Arial" panose="020B0604020202020204" pitchFamily="34" charset="0"/>
              <a:buChar char="•"/>
            </a:pPr>
            <a:endParaRPr lang="en-US" sz="2000"/>
          </a:p>
          <a:p>
            <a:pPr marL="342900" indent="-342900">
              <a:buFont typeface="Arial" panose="020B0604020202020204" pitchFamily="34" charset="0"/>
              <a:buChar char="•"/>
            </a:pPr>
            <a:endParaRPr lang="en-US" sz="2000"/>
          </a:p>
          <a:p>
            <a:pPr marL="342900" indent="-342900">
              <a:buFont typeface="Arial" panose="020B0604020202020204" pitchFamily="34" charset="0"/>
              <a:buChar char="•"/>
            </a:pPr>
            <a:endParaRPr lang="en-US" sz="2000"/>
          </a:p>
          <a:p>
            <a:pPr marL="342900" indent="-342900">
              <a:buFont typeface="Arial" panose="020B0604020202020204" pitchFamily="34" charset="0"/>
              <a:buChar char="•"/>
            </a:pPr>
            <a:endParaRPr lang="en-US" sz="2000"/>
          </a:p>
          <a:p>
            <a:pPr marL="342900" indent="-342900">
              <a:buFont typeface="Arial" panose="020B0604020202020204" pitchFamily="34" charset="0"/>
              <a:buChar char="•"/>
            </a:pPr>
            <a:endParaRPr lang="en-US" sz="2000"/>
          </a:p>
          <a:p>
            <a:pPr marL="342900" indent="-342900">
              <a:buFont typeface="Arial" panose="020B0604020202020204" pitchFamily="34" charset="0"/>
              <a:buChar char="•"/>
            </a:pPr>
            <a:r>
              <a:rPr lang="en-US" sz="2000"/>
              <a:t>Artinya kita sekarang bisa mengakses Python  dan Library yang sebelumnya kita install via Anaconda Prompt dari VS Code Jupyter Notebook. </a:t>
            </a:r>
            <a:endParaRPr lang="en-US" sz="2000"/>
          </a:p>
          <a:p>
            <a:pPr marL="342900" indent="-342900">
              <a:buFont typeface="Arial" panose="020B0604020202020204" pitchFamily="34" charset="0"/>
              <a:buChar char="•"/>
            </a:pPr>
            <a:r>
              <a:rPr lang="en-US" sz="2000"/>
              <a:t>Pada training kedepannya, kita akan langsung menggunakan file notebook yang sudah disediakan, jadi tidak perlu membuat baru dari file kosong. </a:t>
            </a:r>
            <a:endParaRPr lang="en-US" sz="2000"/>
          </a:p>
          <a:p>
            <a:pPr marL="342900" indent="-342900">
              <a:buFont typeface="Arial" panose="020B0604020202020204" pitchFamily="34" charset="0"/>
              <a:buChar char="•"/>
            </a:pPr>
            <a:r>
              <a:rPr lang="en-US" sz="2000"/>
              <a:t>Yang harus selalu kita ingat adalah menghubungkan file Notebook yang kita buka di VS Code ke Conda Environment </a:t>
            </a:r>
            <a:r>
              <a:rPr lang="en-US" sz="2000" b="1"/>
              <a:t>BelajarOpenCV</a:t>
            </a:r>
            <a:endParaRPr lang="en-US" sz="2000" b="1">
              <a:latin typeface="Cascadia Mono Light" panose="020B0609020000020004" charset="0"/>
              <a:cs typeface="Cascadia Mono Light" panose="020B0609020000020004" charset="0"/>
            </a:endParaRPr>
          </a:p>
        </p:txBody>
      </p:sp>
      <p:pic>
        <p:nvPicPr>
          <p:cNvPr id="16" name="Content Placeholder 15"/>
          <p:cNvPicPr>
            <a:picLocks noChangeAspect="1"/>
          </p:cNvPicPr>
          <p:nvPr>
            <p:ph idx="1"/>
          </p:nvPr>
        </p:nvPicPr>
        <p:blipFill>
          <a:blip r:embed="rId1"/>
          <a:stretch>
            <a:fillRect/>
          </a:stretch>
        </p:blipFill>
        <p:spPr>
          <a:xfrm>
            <a:off x="671830" y="1922145"/>
            <a:ext cx="9115425" cy="2162175"/>
          </a:xfrm>
          <a:prstGeom prst="rect">
            <a:avLst/>
          </a:prstGeom>
        </p:spPr>
      </p:pic>
      <p:sp>
        <p:nvSpPr>
          <p:cNvPr id="5" name="Rectangles 4"/>
          <p:cNvSpPr/>
          <p:nvPr/>
        </p:nvSpPr>
        <p:spPr>
          <a:xfrm>
            <a:off x="0" y="0"/>
            <a:ext cx="12207875" cy="97599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7" name="Title 1"/>
          <p:cNvSpPr>
            <a:spLocks noGrp="1"/>
          </p:cNvSpPr>
          <p:nvPr/>
        </p:nvSpPr>
        <p:spPr>
          <a:xfrm>
            <a:off x="403860" y="0"/>
            <a:ext cx="11786870" cy="975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rgbClr val="8B8D08"/>
                </a:solidFill>
                <a:sym typeface="+mn-ea"/>
              </a:rPr>
              <a:t>Menghubungkan Notebook Ke Conda Environment</a:t>
            </a:r>
            <a:endParaRPr lang="en-US" b="1">
              <a:solidFill>
                <a:srgbClr val="8B8D08"/>
              </a:solidFill>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3" name="Rectangles 2"/>
          <p:cNvSpPr/>
          <p:nvPr/>
        </p:nvSpPr>
        <p:spPr>
          <a:xfrm>
            <a:off x="-635" y="0"/>
            <a:ext cx="12182475" cy="6876415"/>
          </a:xfrm>
          <a:prstGeom prst="rect">
            <a:avLst/>
          </a:prstGeom>
          <a:solidFill>
            <a:srgbClr val="E5E79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itle 1"/>
          <p:cNvSpPr>
            <a:spLocks noGrp="1"/>
          </p:cNvSpPr>
          <p:nvPr>
            <p:ph type="title"/>
          </p:nvPr>
        </p:nvSpPr>
        <p:spPr>
          <a:xfrm>
            <a:off x="838200" y="3147060"/>
            <a:ext cx="10515600" cy="564515"/>
          </a:xfrm>
        </p:spPr>
        <p:txBody>
          <a:bodyPr>
            <a:noAutofit/>
          </a:bodyPr>
          <a:p>
            <a:pPr algn="ctr"/>
            <a:r>
              <a:rPr lang="en-US" sz="8000">
                <a:solidFill>
                  <a:srgbClr val="8B8D08"/>
                </a:solidFill>
                <a:sym typeface="+mn-ea"/>
              </a:rPr>
              <a:t>SEKIAN</a:t>
            </a:r>
            <a:endParaRPr lang="en-US" sz="8000">
              <a:solidFill>
                <a:srgbClr val="8B8D08"/>
              </a:solidFill>
              <a:sym typeface="+mn-ea"/>
            </a:endParaRPr>
          </a:p>
        </p:txBody>
      </p:sp>
    </p:spTree>
  </p:cSld>
  <p:clrMapOvr>
    <a:masterClrMapping/>
  </p:clrMapOvr>
</p:sld>
</file>

<file path=ppt/tags/tag1.xml><?xml version="1.0" encoding="utf-8"?>
<p:tagLst xmlns:p="http://schemas.openxmlformats.org/presentationml/2006/main">
  <p:tag name="KSO_WM_DIAGRAM_VIRTUALLY_FRAME" val="{&quot;height&quot;:392.75,&quot;left&quot;:0,&quot;top&quot;:167.85,&quot;width&quot;:959.35}"/>
</p:tagLst>
</file>

<file path=ppt/tags/tag2.xml><?xml version="1.0" encoding="utf-8"?>
<p:tagLst xmlns:p="http://schemas.openxmlformats.org/presentationml/2006/main">
  <p:tag name="KSO_WM_DIAGRAM_VIRTUALLY_FRAME" val="{&quot;height&quot;:392.75,&quot;left&quot;:0,&quot;top&quot;:167.85,&quot;width&quot;:959.35}"/>
</p:tagLst>
</file>

<file path=ppt/tags/tag3.xml><?xml version="1.0" encoding="utf-8"?>
<p:tagLst xmlns:p="http://schemas.openxmlformats.org/presentationml/2006/main">
  <p:tag name="KSO_WM_DIAGRAM_VIRTUALLY_FRAME" val="{&quot;height&quot;:392.75,&quot;left&quot;:0,&quot;top&quot;:167.85,&quot;width&quot;:959.35}"/>
</p:tagLst>
</file>

<file path=ppt/tags/tag4.xml><?xml version="1.0" encoding="utf-8"?>
<p:tagLst xmlns:p="http://schemas.openxmlformats.org/presentationml/2006/main">
  <p:tag name="KSO_WM_DIAGRAM_VIRTUALLY_FRAME" val="{&quot;height&quot;:392.75,&quot;left&quot;:0,&quot;top&quot;:167.85,&quot;width&quot;:959.35}"/>
</p:tagLst>
</file>

<file path=ppt/tags/tag5.xml><?xml version="1.0" encoding="utf-8"?>
<p:tagLst xmlns:p="http://schemas.openxmlformats.org/presentationml/2006/main">
  <p:tag name="KSO_WM_DIAGRAM_VIRTUALLY_FRAME" val="{&quot;height&quot;:392.75,&quot;left&quot;:0,&quot;top&quot;:167.85,&quot;width&quot;:959.35}"/>
</p:tagLst>
</file>

<file path=ppt/tags/tag6.xml><?xml version="1.0" encoding="utf-8"?>
<p:tagLst xmlns:p="http://schemas.openxmlformats.org/presentationml/2006/main">
  <p:tag name="KSO_WM_DIAGRAM_VIRTUALLY_FRAME" val="{&quot;height&quot;:392.75,&quot;left&quot;:0,&quot;top&quot;:167.85,&quot;width&quot;:959.3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4632</Words>
  <Application>WPS Presentation</Application>
  <PresentationFormat>Widescreen</PresentationFormat>
  <Paragraphs>133</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Arial</vt:lpstr>
      <vt:lpstr>SimSun</vt:lpstr>
      <vt:lpstr>Wingdings</vt:lpstr>
      <vt:lpstr>Cascadia Mono Light</vt:lpstr>
      <vt:lpstr>Calibri</vt:lpstr>
      <vt:lpstr>Microsoft YaHei</vt:lpstr>
      <vt:lpstr>Arial Unicode MS</vt:lpstr>
      <vt:lpstr>Calibri Light</vt:lpstr>
      <vt:lpstr>Office Theme</vt:lpstr>
      <vt:lpstr>PowerPoint 演示文稿</vt:lpstr>
      <vt:lpstr>Catatan</vt:lpstr>
      <vt:lpstr>Python Package Management Anaconda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Jupyter Notebook di VS Code</vt:lpstr>
      <vt:lpstr>PowerPoint 演示文稿</vt:lpstr>
      <vt:lpstr>PowerPoint 演示文稿</vt:lpstr>
      <vt:lpstr>PowerPoint 演示文稿</vt:lpstr>
      <vt:lpstr>SEKIAN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google1592694728</cp:lastModifiedBy>
  <cp:revision>43</cp:revision>
  <dcterms:created xsi:type="dcterms:W3CDTF">2020-09-14T11:27:00Z</dcterms:created>
  <dcterms:modified xsi:type="dcterms:W3CDTF">2025-11-27T05:15:43Z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1033-12.2.0.23155</vt:lpwstr>
  </property>
  <property fmtid="{D5CDD505-2E9C-101B-9397-08002B2CF9AE}" pid="3" name="ICV">
    <vt:lpwstr>8C8FD818FAB94D34930932168F125E96_12</vt:lpwstr>
  </property>
</Properties>
</file>